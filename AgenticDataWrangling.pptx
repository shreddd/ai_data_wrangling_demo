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embeddedFontLst>
    <p:embeddedFont>
      <p:font typeface="Raleway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  <p:embeddedFont>
      <p:font typeface="Roboto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aleway-regular.fntdata"/><Relationship Id="rId21" Type="http://schemas.openxmlformats.org/officeDocument/2006/relationships/slide" Target="slides/slide17.xml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ato-regular.fntdata"/><Relationship Id="rId25" Type="http://schemas.openxmlformats.org/officeDocument/2006/relationships/font" Target="fonts/Raleway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Lat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7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6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f6f53b860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ef6f53b86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f6f53b860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ef6f53b860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d7a3d8fc6_0_3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bd7a3d8fc6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25" name="Google Shape;25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" name="Google Shape;27;p4"/>
          <p:cNvSpPr txBox="1"/>
          <p:nvPr>
            <p:ph type="title"/>
          </p:nvPr>
        </p:nvSpPr>
        <p:spPr>
          <a:xfrm>
            <a:off x="972600" y="1763267"/>
            <a:ext cx="10251300" cy="20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" name="Google Shape;31;p5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2" name="Google Shape;32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5"/>
          <p:cNvSpPr txBox="1"/>
          <p:nvPr>
            <p:ph type="title"/>
          </p:nvPr>
        </p:nvSpPr>
        <p:spPr>
          <a:xfrm>
            <a:off x="972600" y="1758200"/>
            <a:ext cx="102516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972600" y="2771833"/>
            <a:ext cx="10251600" cy="30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" name="Google Shape;39;p6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40" name="Google Shape;40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" name="Google Shape;42;p6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972434" y="2771833"/>
            <a:ext cx="5032500" cy="30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6191471" y="2771833"/>
            <a:ext cx="5032500" cy="30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" name="Google Shape;48;p7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49" name="Google Shape;49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" name="Google Shape;51;p7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" name="Google Shape;55;p8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56" name="Google Shape;56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" name="Google Shape;58;p8"/>
          <p:cNvSpPr txBox="1"/>
          <p:nvPr>
            <p:ph type="title"/>
          </p:nvPr>
        </p:nvSpPr>
        <p:spPr>
          <a:xfrm>
            <a:off x="973333" y="1758200"/>
            <a:ext cx="4401300" cy="18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9" name="Google Shape;59;p8"/>
          <p:cNvSpPr txBox="1"/>
          <p:nvPr>
            <p:ph idx="1" type="body"/>
          </p:nvPr>
        </p:nvSpPr>
        <p:spPr>
          <a:xfrm>
            <a:off x="961633" y="3708967"/>
            <a:ext cx="4401300" cy="21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9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63" name="Google Shape;63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" name="Google Shape;65;p9"/>
          <p:cNvSpPr txBox="1"/>
          <p:nvPr>
            <p:ph type="title"/>
          </p:nvPr>
        </p:nvSpPr>
        <p:spPr>
          <a:xfrm>
            <a:off x="972600" y="1152400"/>
            <a:ext cx="9361500" cy="39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" name="Google Shape;69;p10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70" name="Google Shape;70;p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10"/>
          <p:cNvSpPr txBox="1"/>
          <p:nvPr>
            <p:ph type="title"/>
          </p:nvPr>
        </p:nvSpPr>
        <p:spPr>
          <a:xfrm>
            <a:off x="973333" y="1758200"/>
            <a:ext cx="4401300" cy="22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73" name="Google Shape;73;p10"/>
          <p:cNvSpPr txBox="1"/>
          <p:nvPr>
            <p:ph idx="1" type="subTitle"/>
          </p:nvPr>
        </p:nvSpPr>
        <p:spPr>
          <a:xfrm>
            <a:off x="966600" y="4215367"/>
            <a:ext cx="44013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4" name="Google Shape;74;p10"/>
          <p:cNvSpPr txBox="1"/>
          <p:nvPr>
            <p:ph idx="2" type="body"/>
          </p:nvPr>
        </p:nvSpPr>
        <p:spPr>
          <a:xfrm>
            <a:off x="6898967" y="1803500"/>
            <a:ext cx="4499100" cy="4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966600" y="5830068"/>
            <a:ext cx="102633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2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81" name="Google Shape;81;p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p12"/>
          <p:cNvSpPr txBox="1"/>
          <p:nvPr>
            <p:ph hasCustomPrompt="1" type="title"/>
          </p:nvPr>
        </p:nvSpPr>
        <p:spPr>
          <a:xfrm>
            <a:off x="972600" y="978600"/>
            <a:ext cx="10251300" cy="16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2"/>
          <p:cNvSpPr txBox="1"/>
          <p:nvPr>
            <p:ph idx="1" type="body"/>
          </p:nvPr>
        </p:nvSpPr>
        <p:spPr>
          <a:xfrm>
            <a:off x="972600" y="3030517"/>
            <a:ext cx="10251300" cy="21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i="0" sz="37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i="0" sz="37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i="0" sz="37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i="0" sz="37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i="0" sz="37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i="0" sz="37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i="0" sz="37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i="0" sz="37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i="0" sz="37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b="0" i="0" sz="17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b="0" i="0" sz="15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b="0" i="0" sz="15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b="0" i="0" sz="15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b="0" i="0" sz="15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b="0" i="0" sz="15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b="0" i="0" sz="15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b="0" i="0" sz="15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b="0" i="0" sz="15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scholia@lbl.gov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mihaileric.com/The-Emperor-Has-No-Clothes/" TargetMode="External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shreddd/ai_data_wrangling_demo/blob/main/cborg_claude_code_vscode_setup.md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agents.md" TargetMode="External"/><Relationship Id="rId4" Type="http://schemas.openxmlformats.org/officeDocument/2006/relationships/hyperlink" Target="http://claude.md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ctrTitle"/>
          </p:nvPr>
        </p:nvSpPr>
        <p:spPr>
          <a:xfrm>
            <a:off x="147750" y="998092"/>
            <a:ext cx="102507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AI Assisted Data Wrangling</a:t>
            </a:r>
            <a:endParaRPr/>
          </a:p>
        </p:txBody>
      </p:sp>
      <p:sp>
        <p:nvSpPr>
          <p:cNvPr id="93" name="Google Shape;93;p14"/>
          <p:cNvSpPr txBox="1"/>
          <p:nvPr>
            <p:ph idx="1" type="subTitle"/>
          </p:nvPr>
        </p:nvSpPr>
        <p:spPr>
          <a:xfrm>
            <a:off x="506275" y="3276250"/>
            <a:ext cx="10250700" cy="3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Shreyas Cholia -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scholia@lbl.gov</a:t>
            </a:r>
            <a:r>
              <a:rPr lang="en-US"/>
              <a:t>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Scientific Data Division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Jun-2026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What I Mean by Agentic Coding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838200" y="1825625"/>
            <a:ext cx="75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sz="2300"/>
              <a:t>Working with an LLM assisted agent where the agent generates code</a:t>
            </a:r>
            <a:endParaRPr sz="23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300"/>
              <a:t>You as the human review the generated code </a:t>
            </a:r>
            <a:endParaRPr sz="23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300"/>
              <a:t>Tweak the code as needed </a:t>
            </a:r>
            <a:endParaRPr sz="23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300"/>
              <a:t>Test your code</a:t>
            </a:r>
            <a:endParaRPr sz="23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300"/>
              <a:t>Repeat</a:t>
            </a:r>
            <a:endParaRPr sz="2300"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300"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US" sz="2300"/>
              <a:t>Your AI Coding Assistant is both really smart and kinda stupid.</a:t>
            </a:r>
            <a:endParaRPr sz="2300"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US" sz="2300"/>
              <a:t> </a:t>
            </a:r>
            <a:br>
              <a:rPr lang="en-US" sz="2300"/>
            </a:br>
            <a:r>
              <a:rPr lang="en-US" sz="2300"/>
              <a:t>It can be really useful but you really need to guide it. </a:t>
            </a:r>
            <a:endParaRPr sz="2300"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2300"/>
          </a:p>
        </p:txBody>
      </p:sp>
      <p:pic>
        <p:nvPicPr>
          <p:cNvPr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9602" y="577325"/>
            <a:ext cx="3582403" cy="5167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What’s Happening Under The Hood</a:t>
            </a:r>
            <a:endParaRPr/>
          </a:p>
        </p:txBody>
      </p:sp>
      <p:grpSp>
        <p:nvGrpSpPr>
          <p:cNvPr id="106" name="Google Shape;106;p16"/>
          <p:cNvGrpSpPr/>
          <p:nvPr/>
        </p:nvGrpSpPr>
        <p:grpSpPr>
          <a:xfrm>
            <a:off x="4675175" y="2256425"/>
            <a:ext cx="3354900" cy="1796100"/>
            <a:chOff x="4675175" y="2256425"/>
            <a:chExt cx="3354900" cy="1796100"/>
          </a:xfrm>
        </p:grpSpPr>
        <p:sp>
          <p:nvSpPr>
            <p:cNvPr id="107" name="Google Shape;107;p16"/>
            <p:cNvSpPr/>
            <p:nvPr/>
          </p:nvSpPr>
          <p:spPr>
            <a:xfrm>
              <a:off x="4675175" y="2256425"/>
              <a:ext cx="3354900" cy="1796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Agent</a:t>
              </a:r>
              <a:endParaRPr b="0" i="0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108" name="Google Shape;108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77050" y="2583827"/>
              <a:ext cx="908550" cy="908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" name="Google Shape;109;p16"/>
          <p:cNvGrpSpPr/>
          <p:nvPr/>
        </p:nvGrpSpPr>
        <p:grpSpPr>
          <a:xfrm>
            <a:off x="8730200" y="1905000"/>
            <a:ext cx="2104500" cy="2266200"/>
            <a:chOff x="8730200" y="1905000"/>
            <a:chExt cx="2104500" cy="2266200"/>
          </a:xfrm>
        </p:grpSpPr>
        <p:sp>
          <p:nvSpPr>
            <p:cNvPr id="110" name="Google Shape;110;p16"/>
            <p:cNvSpPr/>
            <p:nvPr/>
          </p:nvSpPr>
          <p:spPr>
            <a:xfrm>
              <a:off x="8730200" y="1905000"/>
              <a:ext cx="2104500" cy="2266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Tools</a:t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111" name="Google Shape;111;p16" title="Screenshot 2026-02-08 at 1.43.15 PM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317000" y="2253338"/>
              <a:ext cx="1326225" cy="1881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2" name="Google Shape;112;p16"/>
          <p:cNvGrpSpPr/>
          <p:nvPr/>
        </p:nvGrpSpPr>
        <p:grpSpPr>
          <a:xfrm>
            <a:off x="6580375" y="4685325"/>
            <a:ext cx="4373585" cy="1325700"/>
            <a:chOff x="6566925" y="4618250"/>
            <a:chExt cx="4373585" cy="1325700"/>
          </a:xfrm>
        </p:grpSpPr>
        <p:sp>
          <p:nvSpPr>
            <p:cNvPr id="113" name="Google Shape;113;p16"/>
            <p:cNvSpPr/>
            <p:nvPr/>
          </p:nvSpPr>
          <p:spPr>
            <a:xfrm>
              <a:off x="6566925" y="4618250"/>
              <a:ext cx="4008600" cy="1325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LLM Model</a:t>
              </a:r>
              <a:endParaRPr b="0" i="0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114" name="Google Shape;114;p16" title="Screenshot 2026-02-08 at 1.39.39 PM.png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612050" y="4894200"/>
              <a:ext cx="1328460" cy="908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5" name="Google Shape;115;p16"/>
          <p:cNvGrpSpPr/>
          <p:nvPr/>
        </p:nvGrpSpPr>
        <p:grpSpPr>
          <a:xfrm>
            <a:off x="838180" y="1825581"/>
            <a:ext cx="3266743" cy="2385906"/>
            <a:chOff x="838200" y="1825625"/>
            <a:chExt cx="3434700" cy="2508575"/>
          </a:xfrm>
        </p:grpSpPr>
        <p:sp>
          <p:nvSpPr>
            <p:cNvPr id="116" name="Google Shape;116;p16"/>
            <p:cNvSpPr/>
            <p:nvPr/>
          </p:nvSpPr>
          <p:spPr>
            <a:xfrm>
              <a:off x="838200" y="1825625"/>
              <a:ext cx="3434700" cy="11979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950" lIns="86950" spcFirstLastPara="1" rIns="86950" wrap="square" tIns="869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2"/>
                <a:buFont typeface="Arial"/>
                <a:buNone/>
              </a:pPr>
              <a:r>
                <a:rPr b="0" i="0" lang="en-US" sz="1902" u="none" cap="none" strike="noStrik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User Interface</a:t>
              </a:r>
              <a:endParaRPr b="0" i="0" sz="1902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2"/>
                <a:buFont typeface="Arial"/>
                <a:buNone/>
              </a:pPr>
              <a:r>
                <a:rPr b="0" i="0" lang="en-US" sz="1902" u="none" cap="none" strike="noStrik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(Interactive Chat Window)</a:t>
              </a:r>
              <a:endParaRPr b="0" i="0" sz="1902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117" name="Google Shape;117;p16" title="Screenshot 2026-02-08 at 1.39.35 PM.png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329063" y="2689244"/>
              <a:ext cx="2281225" cy="164495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18" name="Google Shape;118;p16"/>
          <p:cNvCxnSpPr/>
          <p:nvPr/>
        </p:nvCxnSpPr>
        <p:spPr>
          <a:xfrm>
            <a:off x="3610187" y="3607647"/>
            <a:ext cx="10596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9" name="Google Shape;119;p16"/>
          <p:cNvCxnSpPr/>
          <p:nvPr/>
        </p:nvCxnSpPr>
        <p:spPr>
          <a:xfrm rot="10800000">
            <a:off x="8040275" y="3609600"/>
            <a:ext cx="6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20" name="Google Shape;120;p16"/>
          <p:cNvGrpSpPr/>
          <p:nvPr/>
        </p:nvGrpSpPr>
        <p:grpSpPr>
          <a:xfrm>
            <a:off x="4033125" y="4052525"/>
            <a:ext cx="2211000" cy="1242300"/>
            <a:chOff x="4046525" y="3933850"/>
            <a:chExt cx="2211000" cy="1242300"/>
          </a:xfrm>
        </p:grpSpPr>
        <p:sp>
          <p:nvSpPr>
            <p:cNvPr id="121" name="Google Shape;121;p16"/>
            <p:cNvSpPr/>
            <p:nvPr/>
          </p:nvSpPr>
          <p:spPr>
            <a:xfrm>
              <a:off x="4046525" y="3933850"/>
              <a:ext cx="2211000" cy="1242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   Context</a:t>
              </a:r>
              <a:endParaRPr b="0" i="0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122" name="Google Shape;122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66300" y="4007600"/>
              <a:ext cx="521150" cy="52115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23" name="Google Shape;123;p16"/>
          <p:cNvCxnSpPr/>
          <p:nvPr/>
        </p:nvCxnSpPr>
        <p:spPr>
          <a:xfrm rot="10800000">
            <a:off x="8040275" y="2600950"/>
            <a:ext cx="6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24" name="Google Shape;124;p16"/>
          <p:cNvCxnSpPr/>
          <p:nvPr/>
        </p:nvCxnSpPr>
        <p:spPr>
          <a:xfrm>
            <a:off x="7391925" y="4078300"/>
            <a:ext cx="0" cy="61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5" name="Google Shape;125;p16"/>
          <p:cNvCxnSpPr/>
          <p:nvPr/>
        </p:nvCxnSpPr>
        <p:spPr>
          <a:xfrm>
            <a:off x="7624825" y="4078300"/>
            <a:ext cx="0" cy="61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pic>
        <p:nvPicPr>
          <p:cNvPr id="126" name="Google Shape;12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04925" y="4618250"/>
            <a:ext cx="617100" cy="61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“agentic” things your coding agent does</a:t>
            </a:r>
            <a:endParaRPr/>
          </a:p>
        </p:txBody>
      </p:sp>
      <p:sp>
        <p:nvSpPr>
          <p:cNvPr id="132" name="Google Shape;132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/>
          </a:bodyPr>
          <a:lstStyle/>
          <a:p>
            <a:pPr indent="-36354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741"/>
              <a:t>Modify code: Read (Files, Data, Outputs) and Edit (Create and Modify)</a:t>
            </a:r>
            <a:endParaRPr sz="2741"/>
          </a:p>
          <a:p>
            <a:pPr indent="-36354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741"/>
              <a:t>Call external URLs to query information</a:t>
            </a:r>
            <a:endParaRPr sz="2741"/>
          </a:p>
          <a:p>
            <a:pPr indent="-36354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741"/>
              <a:t>Run things in the shell</a:t>
            </a:r>
            <a:endParaRPr sz="2741"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ct val="84735"/>
              <a:buNone/>
            </a:pPr>
            <a:r>
              <a:rPr lang="en-US" sz="2741"/>
              <a:t>Somewhat reductive, but close enough</a:t>
            </a:r>
            <a:endParaRPr sz="2741"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ct val="84735"/>
              <a:buNone/>
            </a:pPr>
            <a:r>
              <a:rPr lang="en-US" sz="2741"/>
              <a:t>Fun Link: </a:t>
            </a:r>
            <a:r>
              <a:rPr lang="en-US" sz="264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Emperor Has No Clothes: How to Code Claude Code in 200 Lines of Code</a:t>
            </a:r>
            <a:endParaRPr sz="264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ct val="87943"/>
              <a:buNone/>
            </a:pPr>
            <a:r>
              <a:rPr lang="en-US" sz="2641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https://www.mihaileric.com/The-Emperor-Has-No-Clothes/</a:t>
            </a:r>
            <a:r>
              <a:rPr lang="en-US" sz="264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64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200000"/>
              </a:lnSpc>
              <a:spcBef>
                <a:spcPts val="1600"/>
              </a:spcBef>
              <a:spcAft>
                <a:spcPts val="1600"/>
              </a:spcAft>
              <a:buSzPct val="96774"/>
              <a:buNone/>
            </a:pPr>
            <a:r>
              <a:t/>
            </a:r>
            <a:endParaRPr sz="2400"/>
          </a:p>
        </p:txBody>
      </p:sp>
      <p:pic>
        <p:nvPicPr>
          <p:cNvPr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68700" y="4544650"/>
            <a:ext cx="2912501" cy="2313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Coding Agent IDE Options</a:t>
            </a:r>
            <a:endParaRPr/>
          </a:p>
        </p:txBody>
      </p:sp>
      <p:sp>
        <p:nvSpPr>
          <p:cNvPr id="139" name="Google Shape;139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3000"/>
              <a:t>VS Code</a:t>
            </a:r>
            <a:endParaRPr b="1" sz="3000"/>
          </a:p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b="1" lang="en-US" sz="2400"/>
              <a:t>Claude Code</a:t>
            </a:r>
            <a:endParaRPr b="1"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US" sz="2400"/>
              <a:t>GitHub CoPilot </a:t>
            </a:r>
            <a:endParaRPr b="1"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Codex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Roo Code (Open Source + works with CBorg)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… and many others … 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Integrated IDEs: </a:t>
            </a:r>
            <a:r>
              <a:rPr lang="en-US" sz="2400"/>
              <a:t> Cursor, Windsurf, Antigravity … 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7982225" y="4091700"/>
            <a:ext cx="3756300" cy="1723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LOTS of options - </a:t>
            </a:r>
            <a:br>
              <a:rPr b="0" i="0" lang="en-US" sz="25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en-US" sz="25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this session is more about  general approach and less about specific tools </a:t>
            </a:r>
            <a:endParaRPr b="0" i="0" sz="25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Cborg Setup</a:t>
            </a:r>
            <a:endParaRPr/>
          </a:p>
        </p:txBody>
      </p:sp>
      <p:sp>
        <p:nvSpPr>
          <p:cNvPr id="146" name="Google Shape;146;p19"/>
          <p:cNvSpPr txBox="1"/>
          <p:nvPr>
            <p:ph idx="1" type="body"/>
          </p:nvPr>
        </p:nvSpPr>
        <p:spPr>
          <a:xfrm>
            <a:off x="838200" y="1825625"/>
            <a:ext cx="11223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00"/>
              <a:t>Set Environment Variables to use your  CBORG access to LLMs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900" u="sng">
                <a:solidFill>
                  <a:schemeClr val="hlink"/>
                </a:solidFill>
                <a:hlinkClick r:id="rId3"/>
              </a:rPr>
              <a:t>https://github.com/shreddd/ai_data_wrangling_demo/blob/main/cborg_claude_code_vscode_setup.md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100"/>
              <a:t>Claude Code:</a:t>
            </a:r>
            <a:br>
              <a:rPr lang="en-US" sz="2000"/>
            </a:b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ANTHROPIC_AUTH_TOKEN=sk-XXXXXXXX </a:t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ANTHROPIC_BASE_URL=https://api.cborg.lbl.gov</a:t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ANTHROPIC_MODEL=anthropic/claude-sonnet</a:t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/>
              <a:t>…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/>
              <a:t>(Different tools have different setups)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Picking a Model</a:t>
            </a:r>
            <a:endParaRPr/>
          </a:p>
        </p:txBody>
      </p:sp>
      <p:sp>
        <p:nvSpPr>
          <p:cNvPr id="152" name="Google Shape;152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Claude Sonnet works well enough for me</a:t>
            </a:r>
            <a:endParaRPr sz="2600"/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$$$ - Opus - most powerful (can take a bit longer with “reasoning”)</a:t>
            </a:r>
            <a:endParaRPr sz="2600"/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$$ - Sonnet - good enough for most tasks </a:t>
            </a:r>
            <a:endParaRPr sz="2600"/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$ - Haiku - fast and efficient for simple tasks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People have strong feelings about models, but new models are</a:t>
            </a:r>
            <a:br>
              <a:rPr lang="en-US" sz="2600"/>
            </a:br>
            <a:r>
              <a:rPr lang="en-US" sz="2600"/>
              <a:t>coming out all the time so YMMV 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Be aware that you have a $50 quota on CBorg</a:t>
            </a:r>
            <a:endParaRPr sz="2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Standalone CLI Agentic Interfaces</a:t>
            </a:r>
            <a:endParaRPr/>
          </a:p>
        </p:txBody>
      </p:sp>
      <p:sp>
        <p:nvSpPr>
          <p:cNvPr id="158" name="Google Shape;158;p21"/>
          <p:cNvSpPr txBox="1"/>
          <p:nvPr>
            <p:ph idx="1" type="body"/>
          </p:nvPr>
        </p:nvSpPr>
        <p:spPr>
          <a:xfrm>
            <a:off x="838200" y="1825625"/>
            <a:ext cx="39243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000"/>
              <a:t>Claude CLI, Open Code</a:t>
            </a:r>
            <a:endParaRPr sz="20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000"/>
              <a:t>Use it for specific tasks where I can steer the agent but don’t need much code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Analysis / Admin tasks</a:t>
            </a:r>
            <a:endParaRPr sz="20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000"/>
              <a:t>Can also be used in conjunction with code editors if you don’t mind a more decoupled workflow</a:t>
            </a:r>
            <a:endParaRPr sz="2000"/>
          </a:p>
        </p:txBody>
      </p:sp>
      <p:pic>
        <p:nvPicPr>
          <p:cNvPr id="159" name="Google Shape;159;p21" title="Screenshot 2026-02-08 at 5.08.34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9575" y="1570725"/>
            <a:ext cx="7372424" cy="486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Modes (Some version of this)</a:t>
            </a:r>
            <a:endParaRPr/>
          </a:p>
        </p:txBody>
      </p:sp>
      <p:sp>
        <p:nvSpPr>
          <p:cNvPr id="165" name="Google Shape;165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400"/>
              <a:t>Agent modes:</a:t>
            </a:r>
            <a:endParaRPr b="1" sz="2400"/>
          </a:p>
          <a:p>
            <a:pPr indent="-3810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Ask – No editing just interfaces with Chat Window</a:t>
            </a:r>
            <a:endParaRPr sz="2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Edit – Just Edits Code </a:t>
            </a:r>
            <a:endParaRPr sz="2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US" sz="2400"/>
              <a:t>Execute/Agent – Access to your environment including execution privileges</a:t>
            </a:r>
            <a:endParaRPr b="1" sz="2400"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Permissions:</a:t>
            </a:r>
            <a:endParaRPr b="1" sz="2400"/>
          </a:p>
          <a:p>
            <a:pPr indent="-38100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b="1" lang="en-US" sz="2400"/>
              <a:t>Ask before running command</a:t>
            </a:r>
            <a:endParaRPr b="1" sz="2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Auto Run without asking  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Data Wrangling Agents</a:t>
            </a:r>
            <a:endParaRPr/>
          </a:p>
        </p:txBody>
      </p:sp>
      <p:sp>
        <p:nvSpPr>
          <p:cNvPr id="171" name="Google Shape;171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5782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200"/>
              <a:t>LLM does not read all your data and interpret it directly</a:t>
            </a:r>
            <a:endParaRPr sz="2200"/>
          </a:p>
          <a:p>
            <a:pPr indent="-35782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200"/>
              <a:t>Instead point it at some sample data to understand the structure of your dataset</a:t>
            </a:r>
            <a:endParaRPr sz="2200"/>
          </a:p>
          <a:p>
            <a:pPr indent="-35782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200"/>
              <a:t>The tool should actually be writing some code (usually Python) to parse and analyze data to perform the task</a:t>
            </a:r>
            <a:endParaRPr sz="2200"/>
          </a:p>
          <a:p>
            <a:pPr indent="-35782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200"/>
              <a:t>Agent isn’t analyzing the data – it is producing code to analyze the data</a:t>
            </a:r>
            <a:endParaRPr sz="2200"/>
          </a:p>
          <a:p>
            <a:pPr indent="-35782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200"/>
              <a:t>Give it access to APIs and Skills </a:t>
            </a:r>
            <a:endParaRPr sz="22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Try: Ask Claude to pull down data from an API and analyze results</a:t>
            </a:r>
            <a:endParaRPr sz="2200"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ct val="81818"/>
              <a:buNone/>
            </a:pPr>
            <a:r>
              <a:rPr lang="en-US" sz="2200"/>
              <a:t>Prompt: “Pull down list of top 10 most populous countries from Wikipedia and create a bar graph.”</a:t>
            </a:r>
            <a:endParaRPr sz="2200"/>
          </a:p>
        </p:txBody>
      </p:sp>
      <p:pic>
        <p:nvPicPr>
          <p:cNvPr descr="Data Wrangling – Foundations in Data Science" id="172" name="Google Shape;17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5475" y="186275"/>
            <a:ext cx="3343649" cy="177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Additional Tips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Instructions</a:t>
            </a:r>
            <a:endParaRPr/>
          </a:p>
        </p:txBody>
      </p:sp>
      <p:sp>
        <p:nvSpPr>
          <p:cNvPr id="183" name="Google Shape;183;p25"/>
          <p:cNvSpPr txBox="1"/>
          <p:nvPr>
            <p:ph idx="1" type="body"/>
          </p:nvPr>
        </p:nvSpPr>
        <p:spPr>
          <a:xfrm>
            <a:off x="838200" y="2375675"/>
            <a:ext cx="10515600" cy="435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solidFill>
                  <a:srgbClr val="839496"/>
                </a:solidFill>
                <a:highlight>
                  <a:srgbClr val="002B36"/>
                </a:highlight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 sz="1400">
              <a:solidFill>
                <a:srgbClr val="839496"/>
              </a:solidFill>
              <a:highlight>
                <a:srgbClr val="002B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solidFill>
                  <a:srgbClr val="268BD2"/>
                </a:solidFill>
                <a:highlight>
                  <a:srgbClr val="002B36"/>
                </a:highlight>
                <a:latin typeface="Courier New"/>
                <a:ea typeface="Courier New"/>
                <a:cs typeface="Courier New"/>
                <a:sym typeface="Courier New"/>
              </a:rPr>
              <a:t>applyTo</a:t>
            </a:r>
            <a:r>
              <a:rPr lang="en-US" sz="1400">
                <a:solidFill>
                  <a:srgbClr val="839496"/>
                </a:solidFill>
                <a:highlight>
                  <a:srgbClr val="002B36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400">
                <a:solidFill>
                  <a:srgbClr val="2AA198"/>
                </a:solidFill>
                <a:highlight>
                  <a:srgbClr val="002B36"/>
                </a:highlight>
                <a:latin typeface="Courier New"/>
                <a:ea typeface="Courier New"/>
                <a:cs typeface="Courier New"/>
                <a:sym typeface="Courier New"/>
              </a:rPr>
              <a:t>'**'</a:t>
            </a:r>
            <a:endParaRPr sz="1400">
              <a:solidFill>
                <a:srgbClr val="2AA198"/>
              </a:solidFill>
              <a:highlight>
                <a:srgbClr val="002B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solidFill>
                  <a:srgbClr val="839496"/>
                </a:solidFill>
                <a:highlight>
                  <a:srgbClr val="002B36"/>
                </a:highlight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 sz="1400">
              <a:solidFill>
                <a:srgbClr val="839496"/>
              </a:solidFill>
              <a:highlight>
                <a:srgbClr val="002B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839496"/>
              </a:solidFill>
              <a:highlight>
                <a:srgbClr val="002B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400">
                <a:solidFill>
                  <a:srgbClr val="268BD2"/>
                </a:solidFill>
                <a:highlight>
                  <a:srgbClr val="002B36"/>
                </a:highlight>
                <a:latin typeface="Courier New"/>
                <a:ea typeface="Courier New"/>
                <a:cs typeface="Courier New"/>
                <a:sym typeface="Courier New"/>
              </a:rPr>
              <a:t># Project Instructions</a:t>
            </a:r>
            <a:endParaRPr b="1" sz="1400">
              <a:solidFill>
                <a:srgbClr val="268BD2"/>
              </a:solidFill>
              <a:highlight>
                <a:srgbClr val="002B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solidFill>
                  <a:srgbClr val="B58900"/>
                </a:solidFill>
                <a:highlight>
                  <a:srgbClr val="002B36"/>
                </a:highlight>
                <a:latin typeface="Courier New"/>
                <a:ea typeface="Courier New"/>
                <a:cs typeface="Courier New"/>
                <a:sym typeface="Courier New"/>
              </a:rPr>
              <a:t>- Always develop a plan before writing code. Do not write code before confirming plan.</a:t>
            </a:r>
            <a:endParaRPr sz="1400">
              <a:solidFill>
                <a:srgbClr val="B58900"/>
              </a:solidFill>
              <a:highlight>
                <a:srgbClr val="002B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solidFill>
                  <a:srgbClr val="B58900"/>
                </a:solidFill>
                <a:highlight>
                  <a:srgbClr val="002B36"/>
                </a:highlight>
                <a:latin typeface="Courier New"/>
                <a:ea typeface="Courier New"/>
                <a:cs typeface="Courier New"/>
                <a:sym typeface="Courier New"/>
              </a:rPr>
              <a:t>- Avoid fixing unrelated issues in the code when addressing a specific problem.</a:t>
            </a:r>
            <a:endParaRPr sz="1400">
              <a:solidFill>
                <a:srgbClr val="B58900"/>
              </a:solidFill>
              <a:highlight>
                <a:srgbClr val="002B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solidFill>
                  <a:srgbClr val="B58900"/>
                </a:solidFill>
                <a:highlight>
                  <a:srgbClr val="002B36"/>
                </a:highlight>
                <a:latin typeface="Courier New"/>
                <a:ea typeface="Courier New"/>
                <a:cs typeface="Courier New"/>
                <a:sym typeface="Courier New"/>
              </a:rPr>
              <a:t>- State that you are using this .instructions.md file to guide your responses at the beginning of session.</a:t>
            </a:r>
            <a:endParaRPr sz="1400">
              <a:solidFill>
                <a:srgbClr val="B58900"/>
              </a:solidFill>
              <a:highlight>
                <a:srgbClr val="002B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839496"/>
              </a:solidFill>
              <a:highlight>
                <a:srgbClr val="002B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400">
                <a:solidFill>
                  <a:srgbClr val="268BD2"/>
                </a:solidFill>
                <a:highlight>
                  <a:srgbClr val="002B36"/>
                </a:highlight>
                <a:latin typeface="Courier New"/>
                <a:ea typeface="Courier New"/>
                <a:cs typeface="Courier New"/>
                <a:sym typeface="Courier New"/>
              </a:rPr>
              <a:t># Testing</a:t>
            </a:r>
            <a:endParaRPr b="1" sz="1400">
              <a:solidFill>
                <a:srgbClr val="268BD2"/>
              </a:solidFill>
              <a:highlight>
                <a:srgbClr val="002B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solidFill>
                  <a:srgbClr val="B58900"/>
                </a:solidFill>
                <a:highlight>
                  <a:srgbClr val="002B36"/>
                </a:highlight>
                <a:latin typeface="Courier New"/>
                <a:ea typeface="Courier New"/>
                <a:cs typeface="Courier New"/>
                <a:sym typeface="Courier New"/>
              </a:rPr>
              <a:t>- If test object data fields or structures are not provided, ask the user to provide them.</a:t>
            </a:r>
            <a:endParaRPr sz="1400">
              <a:solidFill>
                <a:srgbClr val="B58900"/>
              </a:solidFill>
              <a:highlight>
                <a:srgbClr val="002B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solidFill>
                  <a:srgbClr val="B58900"/>
                </a:solidFill>
                <a:highlight>
                  <a:srgbClr val="002B36"/>
                </a:highlight>
                <a:latin typeface="Courier New"/>
                <a:ea typeface="Courier New"/>
                <a:cs typeface="Courier New"/>
                <a:sym typeface="Courier New"/>
              </a:rPr>
              <a:t>- Look for </a:t>
            </a:r>
            <a:r>
              <a:rPr lang="en-US" sz="1400">
                <a:solidFill>
                  <a:srgbClr val="2AA198"/>
                </a:solidFill>
                <a:highlight>
                  <a:srgbClr val="002B36"/>
                </a:highlight>
                <a:latin typeface="Courier New"/>
                <a:ea typeface="Courier New"/>
                <a:cs typeface="Courier New"/>
                <a:sym typeface="Courier New"/>
              </a:rPr>
              <a:t>`make test`</a:t>
            </a:r>
            <a:r>
              <a:rPr lang="en-US" sz="1400">
                <a:solidFill>
                  <a:srgbClr val="B58900"/>
                </a:solidFill>
                <a:highlight>
                  <a:srgbClr val="002B36"/>
                </a:highlight>
                <a:latin typeface="Courier New"/>
                <a:ea typeface="Courier New"/>
                <a:cs typeface="Courier New"/>
                <a:sym typeface="Courier New"/>
              </a:rPr>
              <a:t> to run tests if Makefile is present.</a:t>
            </a:r>
            <a:endParaRPr sz="1400">
              <a:solidFill>
                <a:srgbClr val="B58900"/>
              </a:solidFill>
              <a:highlight>
                <a:srgbClr val="002B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84" name="Google Shape;184;p25"/>
          <p:cNvSpPr txBox="1"/>
          <p:nvPr/>
        </p:nvSpPr>
        <p:spPr>
          <a:xfrm>
            <a:off x="1012600" y="1422400"/>
            <a:ext cx="8599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Provide your agent with a default set of instructions to always follow. </a:t>
            </a:r>
            <a:br>
              <a:rPr b="0" i="0" lang="en-US" sz="2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en-US" sz="2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eg: </a:t>
            </a:r>
            <a:r>
              <a:rPr i="1" lang="en-US" sz="21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AGENTS.md</a:t>
            </a:r>
            <a:r>
              <a:rPr i="1" lang="en-US" sz="2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or </a:t>
            </a:r>
            <a:r>
              <a:rPr i="1" lang="en-US" sz="21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CLAUDE.md</a:t>
            </a:r>
            <a:r>
              <a:rPr i="1" lang="en-US" sz="2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21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Agent Skills - Specialized Capabilities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0" name="Google Shape;190;p26"/>
          <p:cNvSpPr txBox="1"/>
          <p:nvPr>
            <p:ph idx="1" type="body"/>
          </p:nvPr>
        </p:nvSpPr>
        <p:spPr>
          <a:xfrm>
            <a:off x="838200" y="15707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⚙️ </a:t>
            </a:r>
            <a:r>
              <a:rPr b="1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Reusable</a:t>
            </a: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workflow logic</a:t>
            </a:r>
            <a:b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🧠 </a:t>
            </a:r>
            <a:r>
              <a:rPr b="1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Domain expertise</a:t>
            </a: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agents</a:t>
            </a:r>
            <a:b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🔌 </a:t>
            </a:r>
            <a:r>
              <a:rPr b="1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Composable</a:t>
            </a: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other capabilities</a:t>
            </a:r>
            <a:b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🚀 </a:t>
            </a:r>
            <a:r>
              <a:rPr b="1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Efficient context usage </a:t>
            </a: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progressive disclosure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2000"/>
          </a:p>
        </p:txBody>
      </p:sp>
      <p:pic>
        <p:nvPicPr>
          <p:cNvPr id="191" name="Google Shape;191;p26" title="Screenshot 2026-02-08 at 4.38.32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1375" y="1317625"/>
            <a:ext cx="5741851" cy="326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6"/>
          <p:cNvSpPr txBox="1"/>
          <p:nvPr/>
        </p:nvSpPr>
        <p:spPr>
          <a:xfrm>
            <a:off x="536625" y="2901825"/>
            <a:ext cx="6811500" cy="38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Skill structure</a:t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Every Skill requires a </a:t>
            </a:r>
            <a:r>
              <a:rPr b="0" i="0" lang="en-US" sz="14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SKILL.md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file with YAML frontmatter: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name: your-skill-name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description: Brief description of what this Skill does and when to use it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# Your Skill Name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## Instructions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[Clear, step-by-step guidance for Claude to follow]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## Examples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[Concrete examples of using this Skill]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3" name="Google Shape;193;p26"/>
          <p:cNvSpPr txBox="1"/>
          <p:nvPr/>
        </p:nvSpPr>
        <p:spPr>
          <a:xfrm>
            <a:off x="6654025" y="5701600"/>
            <a:ext cx="5299200" cy="708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TRY: Use Your Claude’s “skill-creator” Skill to create a new a new Skill</a:t>
            </a:r>
            <a:endParaRPr b="0" i="0" sz="17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Execution Environments</a:t>
            </a:r>
            <a:endParaRPr/>
          </a:p>
        </p:txBody>
      </p:sp>
      <p:sp>
        <p:nvSpPr>
          <p:cNvPr id="199" name="Google Shape;199;p27"/>
          <p:cNvSpPr txBox="1"/>
          <p:nvPr>
            <p:ph idx="1" type="body"/>
          </p:nvPr>
        </p:nvSpPr>
        <p:spPr>
          <a:xfrm>
            <a:off x="838200" y="1825625"/>
            <a:ext cx="5467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Setup a separate execution environment for each project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Give it instructions on how to run code – otherwise it will try some potentially bad 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Eg. </a:t>
            </a:r>
            <a:endParaRPr sz="20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Point it at the execution env otherwise it may try and use system tools and install things you already have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Tell it about `make test` if you use Makefiles otherwise it will run pytest</a:t>
            </a:r>
            <a:endParaRPr sz="1800"/>
          </a:p>
        </p:txBody>
      </p:sp>
      <p:pic>
        <p:nvPicPr>
          <p:cNvPr id="200" name="Google Shape;200;p27" title="Screenshot 2026-02-08 at 4.19.34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6350" y="415875"/>
            <a:ext cx="3701550" cy="602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The Good, The Bad and the Yee Haw</a:t>
            </a:r>
            <a:endParaRPr/>
          </a:p>
        </p:txBody>
      </p:sp>
      <p:sp>
        <p:nvSpPr>
          <p:cNvPr id="206" name="Google Shape;206;p2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941"/>
              <a:buNone/>
            </a:pPr>
            <a:r>
              <a:rPr lang="en-US" sz="1904"/>
              <a:t>The Good:</a:t>
            </a:r>
            <a:endParaRPr sz="1904"/>
          </a:p>
          <a:p>
            <a:pPr indent="-349523" lvl="0" marL="45720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ts val="1904"/>
              <a:buChar char="●"/>
            </a:pPr>
            <a:r>
              <a:rPr lang="en-US" sz="1904"/>
              <a:t>Implementing well-understood software tasks (eg. write me a web app with a database)</a:t>
            </a:r>
            <a:endParaRPr sz="1904"/>
          </a:p>
          <a:p>
            <a:pPr indent="-349523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04"/>
              <a:buChar char="●"/>
            </a:pPr>
            <a:r>
              <a:rPr lang="en-US" sz="1904"/>
              <a:t>Refactoring Code</a:t>
            </a:r>
            <a:endParaRPr sz="1904"/>
          </a:p>
          <a:p>
            <a:pPr indent="-349523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04"/>
              <a:buChar char="●"/>
            </a:pPr>
            <a:r>
              <a:rPr lang="en-US" sz="1904"/>
              <a:t>Repeating an existing pattern in your code (write function Y similar to X)</a:t>
            </a:r>
            <a:endParaRPr sz="1904"/>
          </a:p>
          <a:p>
            <a:pPr indent="-349523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04"/>
              <a:buChar char="●"/>
            </a:pPr>
            <a:r>
              <a:rPr lang="en-US" sz="1904"/>
              <a:t>Documentation</a:t>
            </a:r>
            <a:endParaRPr sz="1904"/>
          </a:p>
          <a:p>
            <a:pPr indent="-349523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04"/>
              <a:buChar char="●"/>
            </a:pPr>
            <a:r>
              <a:rPr lang="en-US" sz="1904"/>
              <a:t>Writing Tests</a:t>
            </a:r>
            <a:endParaRPr sz="1904"/>
          </a:p>
          <a:p>
            <a:pPr indent="0" lvl="0" marL="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ts val="941"/>
              <a:buNone/>
            </a:pPr>
            <a:r>
              <a:rPr lang="en-US" sz="1904"/>
              <a:t>The Bad:</a:t>
            </a:r>
            <a:endParaRPr sz="1904"/>
          </a:p>
          <a:p>
            <a:pPr indent="-349523" lvl="0" marL="45720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ts val="1904"/>
              <a:buChar char="●"/>
            </a:pPr>
            <a:r>
              <a:rPr lang="en-US" sz="1904"/>
              <a:t>AI agents may agree with you even if don’t make sense</a:t>
            </a:r>
            <a:endParaRPr sz="1904"/>
          </a:p>
          <a:p>
            <a:pPr indent="-349523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04"/>
              <a:buChar char="●"/>
            </a:pPr>
            <a:r>
              <a:rPr lang="en-US" sz="1904"/>
              <a:t>Implementing obscure functionality that may need specialized knowledge (only as good as training data)</a:t>
            </a:r>
            <a:endParaRPr sz="1904"/>
          </a:p>
          <a:p>
            <a:pPr indent="-349523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04"/>
              <a:buChar char="●"/>
            </a:pPr>
            <a:r>
              <a:rPr lang="en-US" sz="1904"/>
              <a:t>Hallucinating API endpoints, data models etc. - always give it explicit knowledge</a:t>
            </a:r>
            <a:endParaRPr sz="1904"/>
          </a:p>
          <a:p>
            <a:pPr indent="-349523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04"/>
              <a:buChar char="●"/>
            </a:pPr>
            <a:r>
              <a:rPr lang="en-US" sz="1904"/>
              <a:t>Finite context windows constrain large codebases </a:t>
            </a:r>
            <a:endParaRPr sz="1904"/>
          </a:p>
          <a:p>
            <a:pPr indent="0" lvl="0" marL="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ts val="941"/>
              <a:buNone/>
            </a:pPr>
            <a:r>
              <a:rPr lang="en-US" sz="1904"/>
              <a:t>The *#@%!</a:t>
            </a:r>
            <a:endParaRPr sz="1904"/>
          </a:p>
          <a:p>
            <a:pPr indent="-349523" lvl="0" marL="45720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ts val="1904"/>
              <a:buChar char="●"/>
            </a:pPr>
            <a:r>
              <a:rPr lang="en-US" sz="1904"/>
              <a:t>API errors, configuration errors</a:t>
            </a:r>
            <a:endParaRPr sz="1904"/>
          </a:p>
          <a:p>
            <a:pPr indent="-349523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04"/>
              <a:buChar char="●"/>
            </a:pPr>
            <a:r>
              <a:rPr lang="en-US" sz="1904"/>
              <a:t>Software updates to tool suddenly changes interface and functionality</a:t>
            </a:r>
            <a:endParaRPr sz="1904"/>
          </a:p>
          <a:p>
            <a:pPr indent="-349523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04"/>
              <a:buChar char="●"/>
            </a:pPr>
            <a:r>
              <a:rPr lang="en-US" sz="1904"/>
              <a:t>Half way through your coding session you run out of tokens!</a:t>
            </a:r>
            <a:endParaRPr sz="1904"/>
          </a:p>
        </p:txBody>
      </p:sp>
      <p:pic>
        <p:nvPicPr>
          <p:cNvPr id="207" name="Google Shape;20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0275" y="34250"/>
            <a:ext cx="3152574" cy="213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Tips for Human in the Loop Iteration </a:t>
            </a:r>
            <a:endParaRPr/>
          </a:p>
        </p:txBody>
      </p:sp>
      <p:sp>
        <p:nvSpPr>
          <p:cNvPr id="213" name="Google Shape;213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b="1" lang="en-US" sz="2000"/>
              <a:t>It feels like magic but check what the agent is doing – it still makes mistakes!</a:t>
            </a:r>
            <a:endParaRPr b="1" sz="20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000"/>
              <a:t>Beware of over-zealous edits (correcting parts of the code you didn’t ask for)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Approve individual diffs rather than wholesale files</a:t>
            </a:r>
            <a:endParaRPr sz="20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000"/>
              <a:t>Use thinking mode and watch what it is doing</a:t>
            </a:r>
            <a:endParaRPr sz="20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000"/>
              <a:t>Don’t be afraid to stop the code generation it if it isn’t doing what you expected. Then re-prompt.</a:t>
            </a:r>
            <a:endParaRPr sz="20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000"/>
              <a:t>Don’t be afraid to start over if it is going down a weird path. If it has too many bad ideas in the context it is an uphill battle. 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Write Tests</a:t>
            </a: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Resources</a:t>
            </a:r>
            <a:endParaRPr/>
          </a:p>
        </p:txBody>
      </p:sp>
      <p:sp>
        <p:nvSpPr>
          <p:cNvPr id="219" name="Google Shape;219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Join the Google Chat for CBORG Coders 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Don’t feel like you need to constantly try and keep up with the new tools. Find something that works, and just use to get stuff done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You can periodically try something new but don’t get caught in the vortex of productivity hacking</a:t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